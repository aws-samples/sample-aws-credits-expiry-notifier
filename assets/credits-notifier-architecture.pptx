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677"/>
  </p:normalViewPr>
  <p:slideViewPr>
    <p:cSldViewPr snapToGrid="0" snapToObjects="1">
      <p:cViewPr varScale="1">
        <p:scale>
          <a:sx n="210" d="100"/>
          <a:sy n="210" d="100"/>
        </p:scale>
        <p:origin x="11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BAA26-B126-8341-B9E2-BB3BF5E6CBF8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3EC75-81B1-684E-A242-79E7314FB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1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3EC75-81B1-684E-A242-79E7314FBE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6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" y="91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232F3E"/>
                </a:solidFill>
                <a:latin typeface="Arial"/>
              </a:rPr>
              <a:t>Credit assignment and expiry notifications for AWS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512064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879196"/>
                </a:solidFill>
                <a:latin typeface="Arial"/>
              </a:rPr>
              <a:t>AWS provides no native notification for credits. This architecture polls the AWS Billing API on a schedule, records what it has already seen, and emails only genuine changes: a credit newly assigned, or a credit crossing an expiry threshold.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987552"/>
            <a:ext cx="8631936" cy="0"/>
          </a:xfrm>
          <a:prstGeom prst="line">
            <a:avLst/>
          </a:prstGeom>
          <a:ln w="9525">
            <a:solidFill>
              <a:srgbClr val="87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0208" y="1115567"/>
            <a:ext cx="8638032" cy="5019393"/>
          </a:xfrm>
          <a:prstGeom prst="rect">
            <a:avLst/>
          </a:prstGeom>
          <a:noFill/>
          <a:ln w="1270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0" rtlCol="0" anchor="t"/>
          <a:lstStyle/>
          <a:p>
            <a:pPr algn="l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2075" y="1645920"/>
            <a:ext cx="5257800" cy="3414952"/>
          </a:xfrm>
          <a:prstGeom prst="rect">
            <a:avLst/>
          </a:prstGeom>
          <a:solidFill>
            <a:srgbClr val="F7F8F8"/>
          </a:solidFill>
          <a:ln w="12700">
            <a:solidFill>
              <a:srgbClr val="E715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0" rtlCol="0" anchor="t"/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26032" y="1645920"/>
            <a:ext cx="2651760" cy="1117049"/>
          </a:xfrm>
          <a:prstGeom prst="rect">
            <a:avLst/>
          </a:prstGeom>
          <a:solidFill>
            <a:srgbClr val="F7F8F8"/>
          </a:solidFill>
          <a:ln w="12700">
            <a:solidFill>
              <a:srgbClr val="E715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0" rtlCol="0" anchor="t"/>
          <a:lstStyle/>
          <a:p>
            <a:pPr algn="l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34084" y="2845399"/>
            <a:ext cx="2651760" cy="1058487"/>
          </a:xfrm>
          <a:prstGeom prst="rect">
            <a:avLst/>
          </a:prstGeom>
          <a:solidFill>
            <a:srgbClr val="F7F8F8"/>
          </a:solidFill>
          <a:ln w="12700">
            <a:solidFill>
              <a:srgbClr val="879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0" rtlCol="0" anchor="t"/>
          <a:lstStyle/>
          <a:p>
            <a:pPr algn="l"/>
            <a:r>
              <a:rPr sz="900" b="1">
                <a:solidFill>
                  <a:srgbClr val="879196"/>
                </a:solidFill>
                <a:latin typeface="Arial"/>
              </a:rPr>
              <a:t>Deployment</a:t>
            </a:r>
          </a:p>
        </p:txBody>
      </p:sp>
      <p:cxnSp>
        <p:nvCxnSpPr>
          <p:cNvPr id="10" name="Connector 9"/>
          <p:cNvCxnSpPr>
            <a:cxnSpLocks/>
            <a:endCxn id="29" idx="0"/>
          </p:cNvCxnSpPr>
          <p:nvPr/>
        </p:nvCxnSpPr>
        <p:spPr>
          <a:xfrm flipH="1">
            <a:off x="3051430" y="2108511"/>
            <a:ext cx="1" cy="1783568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76807" idx="0"/>
          </p:cNvCxnSpPr>
          <p:nvPr/>
        </p:nvCxnSpPr>
        <p:spPr>
          <a:xfrm>
            <a:off x="3051430" y="4317420"/>
            <a:ext cx="0" cy="848283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>
            <a:off x="1382195" y="2231136"/>
            <a:ext cx="1486355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24" idx="3"/>
          </p:cNvCxnSpPr>
          <p:nvPr/>
        </p:nvCxnSpPr>
        <p:spPr>
          <a:xfrm>
            <a:off x="3234310" y="2231135"/>
            <a:ext cx="3832904" cy="9144"/>
          </a:xfrm>
          <a:prstGeom prst="line">
            <a:avLst/>
          </a:prstGeom>
          <a:ln w="15875">
            <a:solidFill>
              <a:srgbClr val="01A8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531" y="2039111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01A88D"/>
                </a:solidFill>
                <a:latin typeface="Arial"/>
              </a:rPr>
              <a:t>sts:AssumeRole  +  billing:GetCredits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2467" y="3468663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879196"/>
                </a:solidFill>
                <a:latin typeface="Arial"/>
              </a:rPr>
              <a:t>state read + write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98D4BC3-E737-F248-BFA7-23A25104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0208" y="1115568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6367" y="1196321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232F3E"/>
                </a:solidFill>
                <a:latin typeface="Arial"/>
              </a:rPr>
              <a:t>AWS Cloud</a:t>
            </a:r>
          </a:p>
        </p:txBody>
      </p:sp>
      <p:pic>
        <p:nvPicPr>
          <p:cNvPr id="85" name="Graphic 84" descr="AWS account group icon.">
            <a:extLst>
              <a:ext uri="{FF2B5EF4-FFF2-40B4-BE49-F238E27FC236}">
                <a16:creationId xmlns:a16="http://schemas.microsoft.com/office/drawing/2014/main" id="{503AD048-8A3E-4092-971C-9B6BEEA98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2075" y="1645920"/>
            <a:ext cx="365760" cy="36576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51843" y="172821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7157B"/>
                </a:solidFill>
                <a:latin typeface="Arial"/>
              </a:rPr>
              <a:t>Notifier account   (management / payer account)</a:t>
            </a:r>
          </a:p>
        </p:txBody>
      </p:sp>
      <p:pic>
        <p:nvPicPr>
          <p:cNvPr id="23" name="Graphic 84" descr="AWS account group icon.">
            <a:extLst>
              <a:ext uri="{FF2B5EF4-FFF2-40B4-BE49-F238E27FC236}">
                <a16:creationId xmlns:a16="http://schemas.microsoft.com/office/drawing/2014/main" id="{503AD048-8A3E-4092-971C-9B6BEEA98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26032" y="1645920"/>
            <a:ext cx="365760" cy="36576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355800" y="172821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7157B"/>
                </a:solidFill>
                <a:latin typeface="Arial"/>
              </a:rPr>
              <a:t>Other payer accounts  (optional)</a:t>
            </a:r>
          </a:p>
        </p:txBody>
      </p:sp>
      <p:pic>
        <p:nvPicPr>
          <p:cNvPr id="76803" name="Graphic 19" descr="Amazon EventBridge service icon.">
            <a:extLst>
              <a:ext uri="{FF2B5EF4-FFF2-40B4-BE49-F238E27FC236}">
                <a16:creationId xmlns:a16="http://schemas.microsoft.com/office/drawing/2014/main" id="{820E96C4-59EB-2648-98B1-156ACC2C903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970715" y="2048255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TextBox 76803"/>
          <p:cNvSpPr txBox="1"/>
          <p:nvPr/>
        </p:nvSpPr>
        <p:spPr>
          <a:xfrm>
            <a:off x="540947" y="2459736"/>
            <a:ext cx="1225296" cy="329184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32F3E"/>
                </a:solidFill>
                <a:latin typeface="Arial"/>
              </a:rPr>
              <a:t>Amazon EventBridge</a:t>
            </a:r>
          </a:p>
          <a:p>
            <a:pPr algn="ctr"/>
            <a:r>
              <a:rPr sz="900" b="0" i="0">
                <a:solidFill>
                  <a:srgbClr val="232F3E"/>
                </a:solidFill>
                <a:latin typeface="Arial"/>
              </a:rPr>
              <a:t>Scheduler</a:t>
            </a:r>
          </a:p>
        </p:txBody>
      </p:sp>
      <p:pic>
        <p:nvPicPr>
          <p:cNvPr id="24" name="lambda" descr="Lambda service icon.">
            <a:extLst>
              <a:ext uri="{FF2B5EF4-FFF2-40B4-BE49-F238E27FC236}">
                <a16:creationId xmlns:a16="http://schemas.microsoft.com/office/drawing/2014/main" id="{74D09EAA-6FCC-469B-B194-46D4F1C1004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2868550" y="2048255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TextBox 76804"/>
          <p:cNvSpPr txBox="1"/>
          <p:nvPr/>
        </p:nvSpPr>
        <p:spPr>
          <a:xfrm>
            <a:off x="2630807" y="2475347"/>
            <a:ext cx="841248" cy="276999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AWS Lambda</a:t>
            </a:r>
          </a:p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credit notifier</a:t>
            </a:r>
          </a:p>
        </p:txBody>
      </p:sp>
      <p:pic>
        <p:nvPicPr>
          <p:cNvPr id="241" name="Graphic 23" descr="Amazon DynamoDB service icon.">
            <a:extLst>
              <a:ext uri="{FF2B5EF4-FFF2-40B4-BE49-F238E27FC236}">
                <a16:creationId xmlns:a16="http://schemas.microsoft.com/office/drawing/2014/main" id="{96E5287B-B069-200B-9DF0-1559294C764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70715" y="389207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TextBox 76805"/>
          <p:cNvSpPr txBox="1"/>
          <p:nvPr/>
        </p:nvSpPr>
        <p:spPr>
          <a:xfrm>
            <a:off x="540947" y="4303559"/>
            <a:ext cx="1225296" cy="329184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32F3E"/>
                </a:solidFill>
                <a:latin typeface="Arial"/>
              </a:rPr>
              <a:t>Amazon DynamoDB</a:t>
            </a:r>
          </a:p>
          <a:p>
            <a:pPr algn="ctr"/>
            <a:r>
              <a:rPr sz="900" b="0" i="0">
                <a:solidFill>
                  <a:srgbClr val="232F3E"/>
                </a:solidFill>
                <a:latin typeface="Arial"/>
              </a:rPr>
              <a:t>credit state + TTL</a:t>
            </a:r>
          </a:p>
        </p:txBody>
      </p:sp>
      <p:pic>
        <p:nvPicPr>
          <p:cNvPr id="29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91CAAAFF-327D-4976-A2B6-301EAAD9BFC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2868550" y="389207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TextBox 76806"/>
          <p:cNvSpPr txBox="1"/>
          <p:nvPr/>
        </p:nvSpPr>
        <p:spPr>
          <a:xfrm>
            <a:off x="2685035" y="4317420"/>
            <a:ext cx="732790" cy="276999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Amazon SNS</a:t>
            </a:r>
          </a:p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alert topic</a:t>
            </a:r>
          </a:p>
        </p:txBody>
      </p:sp>
      <p:pic>
        <p:nvPicPr>
          <p:cNvPr id="38" name="Graphic 26" descr="Amazon Simple Queue Service (Amazon SQS) service icon.">
            <a:extLst>
              <a:ext uri="{FF2B5EF4-FFF2-40B4-BE49-F238E27FC236}">
                <a16:creationId xmlns:a16="http://schemas.microsoft.com/office/drawing/2014/main" id="{E06E405B-8BE4-432D-9B3D-3E2E874D99A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4811195" y="389207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9" name="TextBox 76808"/>
          <p:cNvSpPr txBox="1"/>
          <p:nvPr/>
        </p:nvSpPr>
        <p:spPr>
          <a:xfrm>
            <a:off x="4557131" y="4312698"/>
            <a:ext cx="926270" cy="276999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Amazon SQS</a:t>
            </a:r>
          </a:p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dead-letter queue</a:t>
            </a:r>
          </a:p>
        </p:txBody>
      </p:sp>
      <p:pic>
        <p:nvPicPr>
          <p:cNvPr id="64" name="Graphic 19" descr="AWS Identity and Access Management (IAM) service icon.">
            <a:extLst>
              <a:ext uri="{FF2B5EF4-FFF2-40B4-BE49-F238E27FC236}">
                <a16:creationId xmlns:a16="http://schemas.microsoft.com/office/drawing/2014/main" id="{0F4A7E32-9871-406B-84F3-C360C5F0C6E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7069032" y="2048255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10" name="TextBox 76809"/>
          <p:cNvSpPr txBox="1"/>
          <p:nvPr/>
        </p:nvSpPr>
        <p:spPr>
          <a:xfrm>
            <a:off x="6610014" y="2423162"/>
            <a:ext cx="1280160" cy="329184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IAM read-only role</a:t>
            </a:r>
          </a:p>
          <a:p>
            <a:pPr algn="ctr"/>
            <a:r>
              <a:rPr sz="900" b="0" i="0" dirty="0" err="1">
                <a:solidFill>
                  <a:srgbClr val="232F3E"/>
                </a:solidFill>
                <a:latin typeface="Arial"/>
              </a:rPr>
              <a:t>billing:GetCredits</a:t>
            </a:r>
            <a:endParaRPr sz="900" b="0" i="0" dirty="0">
              <a:solidFill>
                <a:srgbClr val="232F3E"/>
              </a:solidFill>
              <a:latin typeface="Arial"/>
            </a:endParaRPr>
          </a:p>
        </p:txBody>
      </p:sp>
      <p:pic>
        <p:nvPicPr>
          <p:cNvPr id="105" name="Graphic 21" descr="AWS CloudFormation service icon.">
            <a:extLst>
              <a:ext uri="{FF2B5EF4-FFF2-40B4-BE49-F238E27FC236}">
                <a16:creationId xmlns:a16="http://schemas.microsoft.com/office/drawing/2014/main" id="{3A4CC5BC-2610-4B29-861F-23355CE4637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7067214" y="3088267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11" name="TextBox 76810"/>
          <p:cNvSpPr txBox="1"/>
          <p:nvPr/>
        </p:nvSpPr>
        <p:spPr>
          <a:xfrm>
            <a:off x="6258608" y="3539004"/>
            <a:ext cx="1985035" cy="276999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AWS CloudFormation</a:t>
            </a:r>
          </a:p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one template, handler</a:t>
            </a:r>
            <a:r>
              <a:rPr lang="en-US" sz="900" b="0" i="0" dirty="0">
                <a:solidFill>
                  <a:srgbClr val="232F3E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232F3E"/>
                </a:solidFill>
                <a:latin typeface="Arial"/>
              </a:rPr>
              <a:t>embedded inline</a:t>
            </a:r>
          </a:p>
        </p:txBody>
      </p:sp>
      <p:pic>
        <p:nvPicPr>
          <p:cNvPr id="127" name="Graphic 23" descr="Users resource icon for the General Icons category.">
            <a:extLst>
              <a:ext uri="{FF2B5EF4-FFF2-40B4-BE49-F238E27FC236}">
                <a16:creationId xmlns:a16="http://schemas.microsoft.com/office/drawing/2014/main" id="{E85E2EAD-D4A1-4BCE-B3D6-524E21E469A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2868550" y="525477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12" name="TextBox 76811"/>
          <p:cNvSpPr txBox="1"/>
          <p:nvPr/>
        </p:nvSpPr>
        <p:spPr>
          <a:xfrm>
            <a:off x="2228014" y="5648870"/>
            <a:ext cx="1645920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FinOps / cloud team</a:t>
            </a:r>
          </a:p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up to 10 email subscribers</a:t>
            </a:r>
          </a:p>
        </p:txBody>
      </p:sp>
      <p:sp>
        <p:nvSpPr>
          <p:cNvPr id="76813" name="Oval 76812"/>
          <p:cNvSpPr/>
          <p:nvPr/>
        </p:nvSpPr>
        <p:spPr>
          <a:xfrm>
            <a:off x="1683947" y="1947672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6814" name="Oval 76813"/>
          <p:cNvSpPr/>
          <p:nvPr/>
        </p:nvSpPr>
        <p:spPr>
          <a:xfrm>
            <a:off x="4417972" y="2280658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6815" name="Oval 76814"/>
          <p:cNvSpPr/>
          <p:nvPr/>
        </p:nvSpPr>
        <p:spPr>
          <a:xfrm>
            <a:off x="1683947" y="3048040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6816" name="Oval 76815"/>
          <p:cNvSpPr/>
          <p:nvPr/>
        </p:nvSpPr>
        <p:spPr>
          <a:xfrm>
            <a:off x="3097151" y="3383226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6817" name="Oval 76816"/>
          <p:cNvSpPr/>
          <p:nvPr/>
        </p:nvSpPr>
        <p:spPr>
          <a:xfrm>
            <a:off x="3114228" y="4704257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6818" name="Oval 76817"/>
          <p:cNvSpPr/>
          <p:nvPr/>
        </p:nvSpPr>
        <p:spPr>
          <a:xfrm>
            <a:off x="4420103" y="3049919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6820" name="Rectangle 76819"/>
          <p:cNvSpPr/>
          <p:nvPr/>
        </p:nvSpPr>
        <p:spPr>
          <a:xfrm>
            <a:off x="8906256" y="600"/>
            <a:ext cx="3291840" cy="6858000"/>
          </a:xfrm>
          <a:prstGeom prst="rect">
            <a:avLst/>
          </a:prstGeom>
          <a:solidFill>
            <a:srgbClr val="F2F3F3"/>
          </a:solidFill>
          <a:ln w="12700">
            <a:solidFill>
              <a:srgbClr val="F2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0" rtlCol="0" anchor="t"/>
          <a:lstStyle/>
          <a:p>
            <a:pPr algn="l"/>
            <a:endParaRPr/>
          </a:p>
        </p:txBody>
      </p:sp>
      <p:sp>
        <p:nvSpPr>
          <p:cNvPr id="76821" name="TextBox 76820"/>
          <p:cNvSpPr txBox="1"/>
          <p:nvPr/>
        </p:nvSpPr>
        <p:spPr>
          <a:xfrm>
            <a:off x="9070848" y="14630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232F3E"/>
                </a:solidFill>
                <a:latin typeface="Arial"/>
              </a:rPr>
              <a:t>How it works</a:t>
            </a:r>
          </a:p>
        </p:txBody>
      </p:sp>
      <p:sp>
        <p:nvSpPr>
          <p:cNvPr id="76822" name="Oval 76821"/>
          <p:cNvSpPr/>
          <p:nvPr/>
        </p:nvSpPr>
        <p:spPr>
          <a:xfrm>
            <a:off x="9070848" y="466344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6823" name="TextBox 76822"/>
          <p:cNvSpPr txBox="1"/>
          <p:nvPr/>
        </p:nvSpPr>
        <p:spPr>
          <a:xfrm>
            <a:off x="9381744" y="457200"/>
            <a:ext cx="2670048" cy="4617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232F3E"/>
                </a:solidFill>
                <a:latin typeface="Arial"/>
              </a:rPr>
              <a:t>Amazon </a:t>
            </a:r>
            <a:r>
              <a:rPr sz="900" b="0" i="0" dirty="0" err="1">
                <a:solidFill>
                  <a:srgbClr val="232F3E"/>
                </a:solidFill>
                <a:latin typeface="Arial"/>
              </a:rPr>
              <a:t>EventBridge</a:t>
            </a:r>
            <a:r>
              <a:rPr sz="900" b="0" i="0" dirty="0">
                <a:solidFill>
                  <a:srgbClr val="232F3E"/>
                </a:solidFill>
                <a:latin typeface="Arial"/>
              </a:rPr>
              <a:t> Scheduler invokes the notifier once a day. Credit balances refresh every 24 hours.</a:t>
            </a:r>
          </a:p>
        </p:txBody>
      </p:sp>
      <p:sp>
        <p:nvSpPr>
          <p:cNvPr id="76824" name="Oval 76823"/>
          <p:cNvSpPr/>
          <p:nvPr/>
        </p:nvSpPr>
        <p:spPr>
          <a:xfrm>
            <a:off x="9070848" y="1028700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6825" name="TextBox 76824"/>
          <p:cNvSpPr txBox="1"/>
          <p:nvPr/>
        </p:nvSpPr>
        <p:spPr>
          <a:xfrm>
            <a:off x="9381744" y="1019556"/>
            <a:ext cx="2670048" cy="4617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232F3E"/>
                </a:solidFill>
                <a:latin typeface="Arial"/>
              </a:rPr>
              <a:t>The function calls </a:t>
            </a:r>
            <a:r>
              <a:rPr sz="900" b="0" i="0" dirty="0" err="1">
                <a:solidFill>
                  <a:srgbClr val="232F3E"/>
                </a:solidFill>
                <a:latin typeface="Arial"/>
              </a:rPr>
              <a:t>billing:GetCredits</a:t>
            </a:r>
            <a:r>
              <a:rPr sz="900" b="0" i="0" dirty="0">
                <a:solidFill>
                  <a:srgbClr val="232F3E"/>
                </a:solidFill>
                <a:latin typeface="Arial"/>
              </a:rPr>
              <a:t> - its own account directly, other payer accounts via a read-only IAM role.</a:t>
            </a:r>
          </a:p>
        </p:txBody>
      </p:sp>
      <p:sp>
        <p:nvSpPr>
          <p:cNvPr id="76826" name="Oval 76825"/>
          <p:cNvSpPr/>
          <p:nvPr/>
        </p:nvSpPr>
        <p:spPr>
          <a:xfrm>
            <a:off x="9070848" y="1591056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6827" name="TextBox 76826"/>
          <p:cNvSpPr txBox="1"/>
          <p:nvPr/>
        </p:nvSpPr>
        <p:spPr>
          <a:xfrm>
            <a:off x="9381744" y="1581912"/>
            <a:ext cx="2670048" cy="4617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32F3E"/>
                </a:solidFill>
                <a:latin typeface="Arial"/>
              </a:rPr>
              <a:t>Each credit is compared against DynamoDB state keyed accountId#creditId, which records the thresholds already alerted on.</a:t>
            </a:r>
          </a:p>
        </p:txBody>
      </p:sp>
      <p:sp>
        <p:nvSpPr>
          <p:cNvPr id="76828" name="Oval 76827"/>
          <p:cNvSpPr/>
          <p:nvPr/>
        </p:nvSpPr>
        <p:spPr>
          <a:xfrm>
            <a:off x="9070848" y="2153411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6829" name="TextBox 76828"/>
          <p:cNvSpPr txBox="1"/>
          <p:nvPr/>
        </p:nvSpPr>
        <p:spPr>
          <a:xfrm>
            <a:off x="9381744" y="2144268"/>
            <a:ext cx="2670048" cy="4617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32F3E"/>
                </a:solidFill>
                <a:latin typeface="Arial"/>
              </a:rPr>
              <a:t>A credit never seen before, or one crossing a 90/60/30/7 day threshold, becomes an alert. Unchanged credits produce nothing.</a:t>
            </a:r>
          </a:p>
        </p:txBody>
      </p:sp>
      <p:sp>
        <p:nvSpPr>
          <p:cNvPr id="76830" name="Oval 76829"/>
          <p:cNvSpPr/>
          <p:nvPr/>
        </p:nvSpPr>
        <p:spPr>
          <a:xfrm>
            <a:off x="9070848" y="2715768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6831" name="TextBox 76830"/>
          <p:cNvSpPr txBox="1"/>
          <p:nvPr/>
        </p:nvSpPr>
        <p:spPr>
          <a:xfrm>
            <a:off x="9381744" y="2706624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32F3E"/>
                </a:solidFill>
                <a:latin typeface="Arial"/>
              </a:rPr>
              <a:t>Subscribers receive the alert by email. State is written back so each threshold fires exactly once.</a:t>
            </a:r>
          </a:p>
        </p:txBody>
      </p:sp>
      <p:sp>
        <p:nvSpPr>
          <p:cNvPr id="76832" name="Oval 76831"/>
          <p:cNvSpPr/>
          <p:nvPr/>
        </p:nvSpPr>
        <p:spPr>
          <a:xfrm>
            <a:off x="9070848" y="3104118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6833" name="TextBox 76832"/>
          <p:cNvSpPr txBox="1"/>
          <p:nvPr/>
        </p:nvSpPr>
        <p:spPr>
          <a:xfrm>
            <a:off x="9381744" y="3127248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32F3E"/>
                </a:solidFill>
                <a:latin typeface="Arial"/>
              </a:rPr>
              <a:t>Invocations that fail outright land in an SQS dead-letter queue, retained 14 days.</a:t>
            </a:r>
          </a:p>
        </p:txBody>
      </p:sp>
      <p:sp>
        <p:nvSpPr>
          <p:cNvPr id="76834" name="Oval 76833"/>
          <p:cNvSpPr/>
          <p:nvPr/>
        </p:nvSpPr>
        <p:spPr>
          <a:xfrm>
            <a:off x="9070848" y="3524742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76835" name="TextBox 76834"/>
          <p:cNvSpPr txBox="1"/>
          <p:nvPr/>
        </p:nvSpPr>
        <p:spPr>
          <a:xfrm>
            <a:off x="9381744" y="3547872"/>
            <a:ext cx="2670048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00" b="0" i="0" dirty="0">
                <a:solidFill>
                  <a:srgbClr val="232F3E"/>
                </a:solidFill>
                <a:latin typeface="Arial"/>
              </a:rPr>
              <a:t>Amazon </a:t>
            </a:r>
            <a:r>
              <a:rPr sz="900" b="0" i="0" dirty="0">
                <a:solidFill>
                  <a:srgbClr val="232F3E"/>
                </a:solidFill>
                <a:latin typeface="Arial"/>
              </a:rPr>
              <a:t>CloudWatch alarms watch the notifier itself: any error, or no invocation in 48 hours, published to the same topic.</a:t>
            </a:r>
            <a:r>
              <a:rPr lang="en-US" sz="900" b="0" i="0" dirty="0">
                <a:solidFill>
                  <a:srgbClr val="232F3E"/>
                </a:solidFill>
                <a:latin typeface="Arial"/>
              </a:rPr>
              <a:t> AWS KMS customer-managed key encrypts DynamoDB, SNS and SQS at rest</a:t>
            </a:r>
            <a:endParaRPr sz="900" b="0" i="0" dirty="0">
              <a:solidFill>
                <a:srgbClr val="232F3E"/>
              </a:solidFill>
              <a:latin typeface="Arial"/>
            </a:endParaRPr>
          </a:p>
        </p:txBody>
      </p:sp>
      <p:cxnSp>
        <p:nvCxnSpPr>
          <p:cNvPr id="76836" name="Connector 76835"/>
          <p:cNvCxnSpPr/>
          <p:nvPr/>
        </p:nvCxnSpPr>
        <p:spPr>
          <a:xfrm>
            <a:off x="9070848" y="4728273"/>
            <a:ext cx="2926080" cy="0"/>
          </a:xfrm>
          <a:prstGeom prst="line">
            <a:avLst/>
          </a:prstGeom>
          <a:ln w="9525">
            <a:solidFill>
              <a:srgbClr val="87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37" name="TextBox 76836"/>
          <p:cNvSpPr txBox="1"/>
          <p:nvPr/>
        </p:nvSpPr>
        <p:spPr>
          <a:xfrm>
            <a:off x="9070848" y="4831947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232F3E"/>
                </a:solidFill>
                <a:latin typeface="Arial"/>
              </a:rPr>
              <a:t>What arrives in the inbox</a:t>
            </a:r>
          </a:p>
        </p:txBody>
      </p:sp>
      <p:sp>
        <p:nvSpPr>
          <p:cNvPr id="76838" name="TextBox 76837"/>
          <p:cNvSpPr txBox="1"/>
          <p:nvPr/>
        </p:nvSpPr>
        <p:spPr>
          <a:xfrm>
            <a:off x="9070848" y="5087979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  <a:latin typeface="Arial"/>
              </a:rPr>
              <a:t>Credit assigned</a:t>
            </a:r>
          </a:p>
        </p:txBody>
      </p:sp>
      <p:sp>
        <p:nvSpPr>
          <p:cNvPr id="76839" name="TextBox 76838"/>
          <p:cNvSpPr txBox="1"/>
          <p:nvPr/>
        </p:nvSpPr>
        <p:spPr>
          <a:xfrm>
            <a:off x="9070848" y="5261715"/>
            <a:ext cx="2926080" cy="1691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879196"/>
                </a:solidFill>
                <a:latin typeface="Arial"/>
              </a:rPr>
              <a:t>sent once, when a credit first appears with time still on it</a:t>
            </a:r>
          </a:p>
        </p:txBody>
      </p:sp>
      <p:sp>
        <p:nvSpPr>
          <p:cNvPr id="76840" name="TextBox 76839"/>
          <p:cNvSpPr txBox="1"/>
          <p:nvPr/>
        </p:nvSpPr>
        <p:spPr>
          <a:xfrm>
            <a:off x="9070848" y="5540607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  <a:latin typeface="Arial"/>
              </a:rPr>
              <a:t>Expiring in N days</a:t>
            </a:r>
          </a:p>
        </p:txBody>
      </p:sp>
      <p:sp>
        <p:nvSpPr>
          <p:cNvPr id="76841" name="TextBox 76840"/>
          <p:cNvSpPr txBox="1"/>
          <p:nvPr/>
        </p:nvSpPr>
        <p:spPr>
          <a:xfrm>
            <a:off x="9070848" y="5714343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879196"/>
                </a:solidFill>
                <a:latin typeface="Arial"/>
              </a:rPr>
              <a:t>once per threshold: a 120-day credit yields four warnings, not 120</a:t>
            </a:r>
          </a:p>
        </p:txBody>
      </p:sp>
      <p:sp>
        <p:nvSpPr>
          <p:cNvPr id="76842" name="TextBox 76841"/>
          <p:cNvSpPr txBox="1"/>
          <p:nvPr/>
        </p:nvSpPr>
        <p:spPr>
          <a:xfrm>
            <a:off x="9070848" y="6134967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  <a:latin typeface="Arial"/>
              </a:rPr>
              <a:t>Monitoring enabled</a:t>
            </a:r>
          </a:p>
        </p:txBody>
      </p:sp>
      <p:sp>
        <p:nvSpPr>
          <p:cNvPr id="76843" name="TextBox 76842"/>
          <p:cNvSpPr txBox="1"/>
          <p:nvPr/>
        </p:nvSpPr>
        <p:spPr>
          <a:xfrm>
            <a:off x="9070848" y="6308703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879196"/>
                </a:solidFill>
                <a:latin typeface="Arial"/>
              </a:rPr>
              <a:t>one inventory email the first time an account is scanned, instead of one alert per credit</a:t>
            </a:r>
          </a:p>
        </p:txBody>
      </p:sp>
      <p:sp>
        <p:nvSpPr>
          <p:cNvPr id="76844" name="TextBox 76843"/>
          <p:cNvSpPr txBox="1"/>
          <p:nvPr/>
        </p:nvSpPr>
        <p:spPr>
          <a:xfrm>
            <a:off x="9390888" y="4205114"/>
            <a:ext cx="266090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dirty="0">
                <a:solidFill>
                  <a:srgbClr val="232F3E"/>
                </a:solidFill>
                <a:latin typeface="Arial"/>
              </a:rPr>
              <a:t>Deployed from one CloudFormation template. Adding a payer account means deploying a single IAM role there, then extending one parameter.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D73D84-0D99-3681-74A7-485081D9D604}"/>
              </a:ext>
            </a:extLst>
          </p:cNvPr>
          <p:cNvSpPr/>
          <p:nvPr/>
        </p:nvSpPr>
        <p:spPr>
          <a:xfrm>
            <a:off x="9070848" y="4234555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8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B893C1B-2FA4-67D5-138F-4C01C9FE1708}"/>
              </a:ext>
            </a:extLst>
          </p:cNvPr>
          <p:cNvSpPr/>
          <p:nvPr/>
        </p:nvSpPr>
        <p:spPr>
          <a:xfrm>
            <a:off x="6154481" y="3268711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8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0F9D8D-5955-DA5B-E6BE-EB1484F5E6A1}"/>
              </a:ext>
            </a:extLst>
          </p:cNvPr>
          <p:cNvSpPr/>
          <p:nvPr/>
        </p:nvSpPr>
        <p:spPr>
          <a:xfrm>
            <a:off x="5934084" y="4002384"/>
            <a:ext cx="2651760" cy="1058487"/>
          </a:xfrm>
          <a:prstGeom prst="rect">
            <a:avLst/>
          </a:prstGeom>
          <a:solidFill>
            <a:srgbClr val="F7F8F8"/>
          </a:solidFill>
          <a:ln w="12700">
            <a:solidFill>
              <a:srgbClr val="879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0" rtlCol="0" anchor="t"/>
          <a:lstStyle/>
          <a:p>
            <a:pPr algn="l"/>
            <a:r>
              <a:rPr lang="en-US" sz="900" b="1" dirty="0">
                <a:solidFill>
                  <a:srgbClr val="879196"/>
                </a:solidFill>
                <a:latin typeface="Arial"/>
              </a:rPr>
              <a:t>Security &amp; Monitoring</a:t>
            </a:r>
            <a:endParaRPr sz="900" b="1" dirty="0">
              <a:solidFill>
                <a:srgbClr val="879196"/>
              </a:solidFill>
              <a:latin typeface="Arial"/>
            </a:endParaRPr>
          </a:p>
        </p:txBody>
      </p:sp>
      <p:pic>
        <p:nvPicPr>
          <p:cNvPr id="32" name="Picture 31" descr="AWS_KMS.png">
            <a:extLst>
              <a:ext uri="{FF2B5EF4-FFF2-40B4-BE49-F238E27FC236}">
                <a16:creationId xmlns:a16="http://schemas.microsoft.com/office/drawing/2014/main" id="{7DBDE913-F110-D76B-285D-7F222A727F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7656" y="4281353"/>
            <a:ext cx="365760" cy="365760"/>
          </a:xfrm>
          <a:prstGeom prst="rect">
            <a:avLst/>
          </a:prstGeom>
        </p:spPr>
      </p:pic>
      <p:pic>
        <p:nvPicPr>
          <p:cNvPr id="82" name="Graphic 17" descr="Amazon CloudWatch service icon.">
            <a:extLst>
              <a:ext uri="{FF2B5EF4-FFF2-40B4-BE49-F238E27FC236}">
                <a16:creationId xmlns:a16="http://schemas.microsoft.com/office/drawing/2014/main" id="{F0F27D85-8B1B-4E60-9EC1-12AB8A2FBCC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6467496" y="428135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8" name="TextBox 76807"/>
          <p:cNvSpPr txBox="1"/>
          <p:nvPr/>
        </p:nvSpPr>
        <p:spPr>
          <a:xfrm>
            <a:off x="6037728" y="4693259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Amazon CloudWatch</a:t>
            </a:r>
          </a:p>
          <a:p>
            <a:pPr algn="ctr"/>
            <a:r>
              <a:rPr sz="900" b="0" i="0" dirty="0">
                <a:solidFill>
                  <a:srgbClr val="232F3E"/>
                </a:solidFill>
                <a:latin typeface="Arial"/>
              </a:rPr>
              <a:t>alarms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053769-BB18-14A1-D155-8430ECCF0D97}"/>
              </a:ext>
            </a:extLst>
          </p:cNvPr>
          <p:cNvSpPr txBox="1"/>
          <p:nvPr/>
        </p:nvSpPr>
        <p:spPr>
          <a:xfrm>
            <a:off x="7626362" y="4709782"/>
            <a:ext cx="612132" cy="1385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0" i="0" dirty="0">
                <a:solidFill>
                  <a:srgbClr val="232F3E"/>
                </a:solidFill>
                <a:latin typeface="Arial"/>
              </a:rPr>
              <a:t>AWS KMS</a:t>
            </a:r>
            <a:endParaRPr sz="900" b="0" i="0" dirty="0">
              <a:solidFill>
                <a:srgbClr val="232F3E"/>
              </a:solidFill>
              <a:latin typeface="Arial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3AD0141-BA73-49A4-33F2-E56B9B30F839}"/>
              </a:ext>
            </a:extLst>
          </p:cNvPr>
          <p:cNvSpPr/>
          <p:nvPr/>
        </p:nvSpPr>
        <p:spPr>
          <a:xfrm>
            <a:off x="1808572" y="5185675"/>
            <a:ext cx="2484805" cy="848283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819" name="Oval 76818"/>
          <p:cNvSpPr/>
          <p:nvPr/>
        </p:nvSpPr>
        <p:spPr>
          <a:xfrm>
            <a:off x="7167012" y="4340812"/>
            <a:ext cx="237744" cy="237744"/>
          </a:xfrm>
          <a:prstGeom prst="ellipse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39646B64-F04E-89EC-AC5F-744D33254F4E}"/>
              </a:ext>
            </a:extLst>
          </p:cNvPr>
          <p:cNvCxnSpPr>
            <a:cxnSpLocks/>
            <a:stCxn id="76805" idx="2"/>
            <a:endCxn id="241" idx="0"/>
          </p:cNvCxnSpPr>
          <p:nvPr/>
        </p:nvCxnSpPr>
        <p:spPr>
          <a:xfrm rot="5400000">
            <a:off x="1532647" y="2373294"/>
            <a:ext cx="1139733" cy="1897836"/>
          </a:xfrm>
          <a:prstGeom prst="bentConnector3">
            <a:avLst>
              <a:gd name="adj1" fmla="val 50000"/>
            </a:avLst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E51CFB65-5A13-367C-73E5-BB002F2DF28F}"/>
              </a:ext>
            </a:extLst>
          </p:cNvPr>
          <p:cNvCxnSpPr>
            <a:cxnSpLocks/>
            <a:stCxn id="76805" idx="2"/>
            <a:endCxn id="38" idx="0"/>
          </p:cNvCxnSpPr>
          <p:nvPr/>
        </p:nvCxnSpPr>
        <p:spPr>
          <a:xfrm rot="16200000" flipH="1">
            <a:off x="3452887" y="2350890"/>
            <a:ext cx="1139733" cy="1942644"/>
          </a:xfrm>
          <a:prstGeom prst="bentConnector3">
            <a:avLst>
              <a:gd name="adj1" fmla="val 50000"/>
            </a:avLst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382</Words>
  <Application>Microsoft Macintosh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Kumar, Ravi</cp:lastModifiedBy>
  <cp:revision>5</cp:revision>
  <dcterms:created xsi:type="dcterms:W3CDTF">2013-01-27T09:14:16Z</dcterms:created>
  <dcterms:modified xsi:type="dcterms:W3CDTF">2026-09-03T23:42:28Z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2026-09-02T21:49:30Z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c0915bdc-f572-4c39-9662-69c4c045bc4a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